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12274F"/>
          </a:solidFill>
          <a:ln/>
        </p:spPr>
      </p:sp>
      <p:pic>
        <p:nvPicPr>
          <p:cNvPr id="4" name="Image 0" descr="icons/sca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2801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HUQUQIYAI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fuqarolari uchun huquqiy AI yordamchi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794760"/>
            <a:ext cx="457200" cy="36576"/>
          </a:xfrm>
          <a:prstGeom prst="rect">
            <a:avLst/>
          </a:prstGeom>
          <a:solidFill>
            <a:srgbClr val="22376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9776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savolga — </a:t>
            </a:r>
            <a:pPr indent="0" marL="0">
              <a:buNone/>
            </a:pPr>
            <a:r>
              <a:rPr lang="en-US" sz="14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 moddasi, aniq tavsiya va qayerga murojaat qilish</a:t>
            </a:r>
            <a:pPr indent="0" marL="0">
              <a:buNone/>
            </a:pPr>
            <a:r>
              <a:rPr lang="en-US" sz="14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57784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1A2E5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7784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AI AWARD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97680" y="55778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huquqiyai-kjpa.onrender.com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Qonun bor. Lekin unga yetib borish qiyin.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“Ish beruvchi meni asossiz ishdan bo‘shatmoqchi — nima qilaman?”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ISHCHI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148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“Sotib olgan telefonim nuqsonli — pulimni qaytarib bera oladimi?”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ISTE'MOLCHI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148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“Ajrashsak, bola alimenti qanday undiriladi?”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7532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Fuqarolarning aksariyati o'z huquqini bilmaydi, qonun matni murakkab yuridik tilda yozilgan, advokat xizmati esa hammaga ham qulay emas.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22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odamlar yoki jim qoladi, yoki noto'g'ri, tekshirilmagan maslahatga ishonadi.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G'OYA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qonunni o'zidan yozmaydi.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Aksariyat huquqiy AI'larning muammosi — ular ishonchli ko'ringan, lekin to'qib chiqarilgan moddalarni keltiradi. HuquqiyAI buni arxitektura darajasida yo'q qiladi.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1A2E5C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834640"/>
            <a:ext cx="731520" cy="731520"/>
          </a:xfrm>
          <a:prstGeom prst="ellipse">
            <a:avLst/>
          </a:prstGeom>
          <a:solidFill>
            <a:srgbClr val="12274F"/>
          </a:solidFill>
          <a:ln w="15875">
            <a:solidFill>
              <a:srgbClr val="C89B3C"/>
            </a:solidFill>
            <a:prstDash val="solid"/>
          </a:ln>
        </p:spPr>
      </p:sp>
      <p:pic>
        <p:nvPicPr>
          <p:cNvPr id="7" name="Image 0" descr="icons/comment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302666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 o'z tilida savol beradi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72968" y="3749040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10712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1A2E5C"/>
          </a:solidFill>
          <a:ln/>
        </p:spPr>
      </p:sp>
      <p:sp>
        <p:nvSpPr>
          <p:cNvPr id="13" name="Shape 10"/>
          <p:cNvSpPr/>
          <p:nvPr/>
        </p:nvSpPr>
        <p:spPr>
          <a:xfrm>
            <a:off x="4302252" y="2834640"/>
            <a:ext cx="731520" cy="731520"/>
          </a:xfrm>
          <a:prstGeom prst="ellipse">
            <a:avLst/>
          </a:prstGeom>
          <a:solidFill>
            <a:srgbClr val="12274F"/>
          </a:solidFill>
          <a:ln w="15875">
            <a:solidFill>
              <a:srgbClr val="C89B3C"/>
            </a:solidFill>
            <a:prstDash val="solid"/>
          </a:ln>
        </p:spPr>
      </p:sp>
      <p:pic>
        <p:nvPicPr>
          <p:cNvPr id="14" name="Image 1" descr="icons/databa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302666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75304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93592" y="37490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Qidiruv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39312" y="4206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mos qonun moddalarini bazadan topadi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943600" y="3749040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181344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1A2E5C"/>
          </a:solidFill>
          <a:ln/>
        </p:spPr>
      </p:sp>
      <p:sp>
        <p:nvSpPr>
          <p:cNvPr id="20" name="Shape 16"/>
          <p:cNvSpPr/>
          <p:nvPr/>
        </p:nvSpPr>
        <p:spPr>
          <a:xfrm>
            <a:off x="7072884" y="2834640"/>
            <a:ext cx="731520" cy="731520"/>
          </a:xfrm>
          <a:prstGeom prst="ellipse">
            <a:avLst/>
          </a:prstGeom>
          <a:solidFill>
            <a:srgbClr val="12274F"/>
          </a:solidFill>
          <a:ln w="15875">
            <a:solidFill>
              <a:srgbClr val="C89B3C"/>
            </a:solidFill>
            <a:prstDash val="solid"/>
          </a:ln>
        </p:spPr>
      </p:sp>
      <p:pic>
        <p:nvPicPr>
          <p:cNvPr id="21" name="Image 2" descr="icons/robo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302666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45936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64224" y="37490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tanlaydi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9944" y="4206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faqat modda ID'sini tanlaydi va tavsiya yozadi — matnni qayta yozmaydi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714232" y="3749040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8951976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1A2E5C"/>
          </a:solidFill>
          <a:ln/>
        </p:spPr>
      </p:sp>
      <p:sp>
        <p:nvSpPr>
          <p:cNvPr id="27" name="Shape 22"/>
          <p:cNvSpPr/>
          <p:nvPr/>
        </p:nvSpPr>
        <p:spPr>
          <a:xfrm>
            <a:off x="9843516" y="2834640"/>
            <a:ext cx="731520" cy="731520"/>
          </a:xfrm>
          <a:prstGeom prst="ellipse">
            <a:avLst/>
          </a:prstGeom>
          <a:solidFill>
            <a:srgbClr val="12274F"/>
          </a:solidFill>
          <a:ln w="15875">
            <a:solidFill>
              <a:srgbClr val="C89B3C"/>
            </a:solidFill>
            <a:prstDash val="solid"/>
          </a:ln>
        </p:spPr>
      </p:sp>
      <p:pic>
        <p:nvPicPr>
          <p:cNvPr id="28" name="Image 3" descr="icons/shiel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252" y="302666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16568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134856" y="37490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Asl matn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180576" y="4206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Foydalanuvchiga modda matni to'g'ridan-to'g'ri bazadan, o'zgarishsiz yetkaziladi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bir javob — qat'iy uch qismdan iborat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EDF1F8"/>
          </a:solidFill>
          <a:ln/>
          <a:effectLst>
            <a:outerShdw sx="100000" sy="100000" kx="0" ky="0" algn="bl" rotWithShape="0" blurRad="88900" dist="38100" dir="540000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12274F"/>
          </a:solidFill>
          <a:ln/>
        </p:spPr>
      </p:sp>
      <p:pic>
        <p:nvPicPr>
          <p:cNvPr id="6" name="Image 0" descr="icons/gav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Qonun moddasi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47288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matn, o'zgartirilmasdan — modda raqami, qonun nomi va lex.uz'ga to'g'ridan-to'g'ri havola bilan.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EDF1F8"/>
          </a:solidFill>
          <a:ln/>
          <a:effectLst>
            <a:outerShdw sx="100000" sy="100000" kx="0" ky="0" algn="bl" rotWithShape="0" blurRad="88900" dist="38100" dir="540000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12274F"/>
          </a:solidFill>
          <a:ln/>
        </p:spPr>
      </p:sp>
      <p:pic>
        <p:nvPicPr>
          <p:cNvPr id="11" name="Image 1" descr="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Umumiy tavsiya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447288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Vaziyatga mos, sodda tushuntirish va aniq keyingi qadamlar.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EDF1F8"/>
          </a:solidFill>
          <a:ln/>
          <a:effectLst>
            <a:outerShdw sx="100000" sy="100000" kx="0" ky="0" algn="bl" rotWithShape="0" blurRad="88900" dist="38100" dir="540000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12274F"/>
          </a:solidFill>
          <a:ln/>
        </p:spPr>
      </p:sp>
      <p:pic>
        <p:nvPicPr>
          <p:cNvPr id="16" name="Image 2" descr="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Qayerga murojaat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447288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Tegishli davlat organi nomi, manzili, telefoni va sayti.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Modda matnining o'zi hech qachon LLM orqali o'tmaydi — bu parafraza va “halu​tsinatsiya” xavfini texnik jihatdan yo'q qiladi.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AUDITORIYA — BITTA TIZIM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bir foydalanuvchi o'z tilida javob oladi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A2E5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12274F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6" name="Image 0" descr="icons/use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4871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77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Oddiy odam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Sodda, tushunarli til. Yuridik atamalar oddiy so'zlar bilan izohlanadi. Qadam-baqadam nima qilish kerakligi aytiladi.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A2E5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286000"/>
            <a:ext cx="822960" cy="822960"/>
          </a:xfrm>
          <a:prstGeom prst="ellipse">
            <a:avLst/>
          </a:prstGeom>
          <a:solidFill>
            <a:srgbClr val="12274F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1" descr="icons/userti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4871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77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Advokat / Pro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0" y="34290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yuridik til. Protsessual muddatlar, hujjat turlari (da'vo, shikoyat, ariza) va sudga taalluqlilik masalalari ko'rsatiladi.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SUHBATDAN TASHQARIDA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Faqat chat emas — amaliy natija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EDF1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731520" cy="731520"/>
          </a:xfrm>
          <a:prstGeom prst="ellipse">
            <a:avLst/>
          </a:prstGeom>
          <a:solidFill>
            <a:srgbClr val="12274F"/>
          </a:solidFill>
          <a:ln/>
        </p:spPr>
      </p:sp>
      <p:pic>
        <p:nvPicPr>
          <p:cNvPr id="6" name="Image 0" descr="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231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tahlili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 yoki TXT formatidagi hujjat (masalan, mehnat shartnomasi) yuklanadi va tizim uni huquqiy jihatdan tahlil qiladi — xuddi savol-javob kabi uch qismli natija bilan.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7548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 shartnomada xodim huquqlari buzilganmi?”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87452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12274F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240280"/>
            <a:ext cx="731520" cy="731520"/>
          </a:xfrm>
          <a:prstGeom prst="ellipse">
            <a:avLst/>
          </a:prstGeom>
          <a:solidFill>
            <a:srgbClr val="1A2E5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2" name="Image 1" descr="icons/signatur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2316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2860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Ariza qoralamasi — bir tugma bilan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00800" y="32918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Asosli javobdan so'ng, tegishli modda va organ ma'lumotlari asosida tayyor ariza/da'vo arizasi avtomatik tuziladi.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0" y="45720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ishtirokisiz: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modda va organ ma'lumotlari bazadan olinadi. Foydalanuvchi faqat F.I.Sh kiritadi — hujjatda yoziladigan yagona joy imzo.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MUHANDISLIK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Xizmat hech qachon to'xtamaydi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provayderli arxitektura: asosiy AI provayder ishlamay qolsa (kredit tugashi, limit, tarmoq xatosi), tizim avtomatik ravishda zaxira provayderga o'tadi.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EDF1F8"/>
          </a:solidFill>
          <a:ln w="15875">
            <a:solidFill>
              <a:srgbClr val="122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12274F"/>
          </a:solidFill>
          <a:ln/>
        </p:spPr>
      </p:sp>
      <p:pic>
        <p:nvPicPr>
          <p:cNvPr id="7" name="Image 0" descr="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9900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Asosiy: Anthropic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claude-sonnet-4-5 — structured output (JSON schema) bilan tuzilgan javob kafolatlanadi.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315468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754880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ishlamasa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251460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EDF1F8"/>
          </a:solidFill>
          <a:ln w="15875">
            <a:solidFill>
              <a:srgbClr val="C89B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283464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4" name="Image 1" descr="icons/syn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9900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Zaxira: Google Gemini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21792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— bir xil JSON sxema, xizmat foydalanuvchi uchun uzluksiz ko'rinadi.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2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kredit tugashi yoki bitta provayder to'xtab qolishi foydalanuvchiga sezilmaydi.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 UCHUN OCHIQ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Uch yozuvda, o'z tilida javob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odamlar turli yozuv va tillarda yozadi. HuquqiyAI savol qanday yozuvda kelsa, o'sha yozuvda javob beradi — hech kimni chetlab o'tmaydi.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A2E5C"/>
          </a:solidFill>
          <a:ln/>
        </p:spPr>
      </p:sp>
      <p:pic>
        <p:nvPicPr>
          <p:cNvPr id="6" name="Image 0" descr="icons/languag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O'zbek lotin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“Ishdan bo'shatishdi, nima qilaman?”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51460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A2E5C"/>
          </a:solidFill>
          <a:ln/>
        </p:spPr>
      </p:sp>
      <p:pic>
        <p:nvPicPr>
          <p:cNvPr id="10" name="Image 1" descr="icons/languag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889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383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Ўзбек кирилл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17720" y="38404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“Ишдан бўшатишди, нима қиламан?”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46720" y="251460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A2E5C"/>
          </a:solidFill>
          <a:ln/>
        </p:spPr>
      </p:sp>
      <p:pic>
        <p:nvPicPr>
          <p:cNvPr id="14" name="Image 2" descr="icons/languag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889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1040" y="3383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 tili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321040" y="38404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“Меня уволили, что делать?”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Kirillcha savollar uchun avtomatik transliteratsiyali qidiruv qo'llaniladi — baza lotin va kirill so'rovlarini bir xil aniqlikda topadi.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 SHAFFOFLIGI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bir modda — tekshirilgan yoki ochiq belgilangan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tasdiqlangan modda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EDF1F8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26280" y="2926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kodeks / qonun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EDF1F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29600" y="2926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manba — lex.uz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Mehnat kodeksi (ishdan bo'shatish, ish haqi, ta'til, sinov muddati, mehnat nizolari) · Oila kodeksi (ajrashish, aliment, er-xotin mulki) · Fuqarolik kodeksi (shartnoma, ijara, qarz, meros) · Iste'molchilar huquqlari qonuni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2274F"/>
          </a:solidFill>
          <a:ln/>
        </p:spPr>
      </p:sp>
      <p:pic>
        <p:nvPicPr>
          <p:cNvPr id="15" name="Image 0" descr="icons/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38928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49377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Tekshirilmagan matn hech qachon to'qib chiqarilmaydi.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lex.uz'dan olib bo'lmagan moddalar “needs_verification” deb belgilanadi va faqat rasmiy havola bilan ko'rsatiladi.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HOZIROQ SINAB KO'RING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Ro'yxatdan o'tish shart emas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ochilgan zahoti ishlatiladi: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1A2E5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6" name="Image 0" descr="icons/lin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631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031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huquqiyai-kjpa.onrender.com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1A2E5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264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MEHNAT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6576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“Ish beruvchi meni asossiz ishdan bo'shatmoqchi, nima qilay?”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5029200"/>
            <a:ext cx="2926080" cy="0"/>
          </a:xfrm>
          <a:prstGeom prst="line">
            <a:avLst/>
          </a:prstGeom>
          <a:noFill/>
          <a:ln w="12700">
            <a:solidFill>
              <a:srgbClr val="2A3F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5166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Mehnat kodeksi 161-modda + Mehnat inspeksiyasi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30632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1A2E5C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3264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ISTE'MOLCHI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36576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“Sotib olgan telefonim nuqsonli chiqdi, qaytarib bera olamanmi?”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0" y="5029200"/>
            <a:ext cx="2926080" cy="0"/>
          </a:xfrm>
          <a:prstGeom prst="line">
            <a:avLst/>
          </a:prstGeom>
          <a:noFill/>
          <a:ln w="12700">
            <a:solidFill>
              <a:srgbClr val="2A3F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5166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Iste'molchilar qonuni 14-modda + Raqobat qo'mitasi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30632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1A2E5C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3264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OILA (PRO)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75320" y="36576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“Ajrashganda bola alimenti qanday undiriladi?”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75320" y="5029200"/>
            <a:ext cx="2926080" cy="0"/>
          </a:xfrm>
          <a:prstGeom prst="line">
            <a:avLst/>
          </a:prstGeom>
          <a:noFill/>
          <a:ln w="12700">
            <a:solidFill>
              <a:srgbClr val="2A3F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5166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Oila kodeksi 96–97-moddalar + sud/FHDYo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XARITASI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Keyingi bosqichlar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1227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1540" y="2532888"/>
            <a:ext cx="0" cy="365760"/>
          </a:xfrm>
          <a:prstGeom prst="line">
            <a:avLst/>
          </a:prstGeom>
          <a:noFill/>
          <a:ln w="19050">
            <a:solidFill>
              <a:srgbClr val="C9D2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Ovozli suhbat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9659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Arxitektura tayyor — STT/TTS qo'shish uchun faqat yangi endpoint kerak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502920" cy="502920"/>
          </a:xfrm>
          <a:prstGeom prst="ellipse">
            <a:avLst/>
          </a:prstGeom>
          <a:solidFill>
            <a:srgbClr val="12274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1540" y="3465576"/>
            <a:ext cx="0" cy="365760"/>
          </a:xfrm>
          <a:prstGeom prst="line">
            <a:avLst/>
          </a:prstGeom>
          <a:noFill/>
          <a:ln w="19050">
            <a:solidFill>
              <a:srgbClr val="C9D2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371600" y="28986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To'liq lex.uz sinxronizatsiyasi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89864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kodekslarni avtomatik yuklash va yangilanishlarni kuzatish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502920" cy="502920"/>
          </a:xfrm>
          <a:prstGeom prst="ellipse">
            <a:avLst/>
          </a:prstGeom>
          <a:solidFill>
            <a:srgbClr val="12274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77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" y="4398264"/>
            <a:ext cx="0" cy="365760"/>
          </a:xfrm>
          <a:prstGeom prst="line">
            <a:avLst/>
          </a:prstGeom>
          <a:noFill/>
          <a:ln w="19050">
            <a:solidFill>
              <a:srgbClr val="C9D2E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371600" y="38313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Semantik qidiruv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831336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kattalashganda embedding asosidagi qidiruvga o'tish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09744"/>
            <a:ext cx="502920" cy="502920"/>
          </a:xfrm>
          <a:prstGeom prst="ellipse">
            <a:avLst/>
          </a:prstGeom>
          <a:solidFill>
            <a:srgbClr val="12274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09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7640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Telegram-bot va feedback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4764024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interfeys, javob streaming va foydalanuvchi fikri yig'ish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0B1A3A"/>
          </a:solidFill>
          <a:ln/>
        </p:spPr>
      </p:sp>
      <p:pic>
        <p:nvPicPr>
          <p:cNvPr id="3" name="Image 0" descr="icons/bullsey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743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bir fuqaro o'z huquqini bilishi kerak.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HuquqiyAI — huquqiy savodxonlik va adolatga teng kirish yo'lidagi qadam: fuqarolarga o'z huquqlarini bilish va ularni talab qilishda yordam beruvchi, ishonchli va tekshirilgan AI yordamchi.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1A2E5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206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Ogohlantirish: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HuquqiyAI bergan ma'lumot tanishtiruv xarakteriga ega bo'lib, professional huquqiy maslahat o'rnini bosmaydi. Rasmiy manba — lex.uz.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AI AWARD 2026  ·  HUQUQIYAI  ·  huquqiyai-kjpa.onrender.com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2026-07-30T16:32:20Z</dcterms:created>
  <dcterms:modified xsi:type="dcterms:W3CDTF">2026-07-30T16:32:20Z</dcterms:modified>
</cp:coreProperties>
</file>